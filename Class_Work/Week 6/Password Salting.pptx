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Archive" panose="020B0604020202020204" charset="0"/>
      <p:regular r:id="rId9"/>
    </p:embeddedFont>
    <p:embeddedFont>
      <p:font typeface="Canva Sans Bold" panose="020B0604020202020204" charset="0"/>
      <p:regular r:id="rId10"/>
    </p:embeddedFont>
    <p:embeddedFont>
      <p:font typeface="Glacial Indifference 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996" y="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36947" y="-6629400"/>
            <a:ext cx="13258800" cy="13258800"/>
          </a:xfrm>
          <a:custGeom>
            <a:avLst/>
            <a:gdLst/>
            <a:ahLst/>
            <a:cxnLst/>
            <a:rect l="l" t="t" r="r" b="b"/>
            <a:pathLst>
              <a:path w="13258800" h="13258800">
                <a:moveTo>
                  <a:pt x="0" y="0"/>
                </a:moveTo>
                <a:lnTo>
                  <a:pt x="13258800" y="0"/>
                </a:lnTo>
                <a:lnTo>
                  <a:pt x="13258800" y="13258800"/>
                </a:lnTo>
                <a:lnTo>
                  <a:pt x="0" y="13258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390808" y="3009765"/>
            <a:ext cx="3740427" cy="3740427"/>
          </a:xfrm>
          <a:custGeom>
            <a:avLst/>
            <a:gdLst/>
            <a:ahLst/>
            <a:cxnLst/>
            <a:rect l="l" t="t" r="r" b="b"/>
            <a:pathLst>
              <a:path w="3740427" h="3740427">
                <a:moveTo>
                  <a:pt x="0" y="0"/>
                </a:moveTo>
                <a:lnTo>
                  <a:pt x="3740427" y="0"/>
                </a:lnTo>
                <a:lnTo>
                  <a:pt x="3740427" y="3740427"/>
                </a:lnTo>
                <a:lnTo>
                  <a:pt x="0" y="3740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993354">
            <a:off x="14306693" y="5914212"/>
            <a:ext cx="3299987" cy="3490371"/>
          </a:xfrm>
          <a:custGeom>
            <a:avLst/>
            <a:gdLst/>
            <a:ahLst/>
            <a:cxnLst/>
            <a:rect l="l" t="t" r="r" b="b"/>
            <a:pathLst>
              <a:path w="3299987" h="3490371">
                <a:moveTo>
                  <a:pt x="0" y="0"/>
                </a:moveTo>
                <a:lnTo>
                  <a:pt x="3299987" y="0"/>
                </a:lnTo>
                <a:lnTo>
                  <a:pt x="3299987" y="3490371"/>
                </a:lnTo>
                <a:lnTo>
                  <a:pt x="0" y="3490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798646">
            <a:off x="7688658" y="6775710"/>
            <a:ext cx="3353386" cy="2676612"/>
          </a:xfrm>
          <a:custGeom>
            <a:avLst/>
            <a:gdLst/>
            <a:ahLst/>
            <a:cxnLst/>
            <a:rect l="l" t="t" r="r" b="b"/>
            <a:pathLst>
              <a:path w="3353386" h="2676612">
                <a:moveTo>
                  <a:pt x="0" y="0"/>
                </a:moveTo>
                <a:lnTo>
                  <a:pt x="3353386" y="0"/>
                </a:lnTo>
                <a:lnTo>
                  <a:pt x="3353386" y="2676612"/>
                </a:lnTo>
                <a:lnTo>
                  <a:pt x="0" y="26766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277729" y="856137"/>
            <a:ext cx="3130036" cy="3130036"/>
          </a:xfrm>
          <a:custGeom>
            <a:avLst/>
            <a:gdLst/>
            <a:ahLst/>
            <a:cxnLst/>
            <a:rect l="l" t="t" r="r" b="b"/>
            <a:pathLst>
              <a:path w="3130036" h="3130036">
                <a:moveTo>
                  <a:pt x="0" y="0"/>
                </a:moveTo>
                <a:lnTo>
                  <a:pt x="3130036" y="0"/>
                </a:lnTo>
                <a:lnTo>
                  <a:pt x="3130036" y="3130036"/>
                </a:lnTo>
                <a:lnTo>
                  <a:pt x="0" y="3130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258663" y="6750192"/>
            <a:ext cx="3474675" cy="2830281"/>
          </a:xfrm>
          <a:custGeom>
            <a:avLst/>
            <a:gdLst/>
            <a:ahLst/>
            <a:cxnLst/>
            <a:rect l="l" t="t" r="r" b="b"/>
            <a:pathLst>
              <a:path w="3474675" h="2830281">
                <a:moveTo>
                  <a:pt x="0" y="0"/>
                </a:moveTo>
                <a:lnTo>
                  <a:pt x="3474674" y="0"/>
                </a:lnTo>
                <a:lnTo>
                  <a:pt x="3474674" y="2830281"/>
                </a:lnTo>
                <a:lnTo>
                  <a:pt x="0" y="28302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144000" y="5143500"/>
            <a:ext cx="1218104" cy="1180453"/>
          </a:xfrm>
          <a:custGeom>
            <a:avLst/>
            <a:gdLst/>
            <a:ahLst/>
            <a:cxnLst/>
            <a:rect l="l" t="t" r="r" b="b"/>
            <a:pathLst>
              <a:path w="1218104" h="1180453">
                <a:moveTo>
                  <a:pt x="0" y="0"/>
                </a:moveTo>
                <a:lnTo>
                  <a:pt x="1218104" y="0"/>
                </a:lnTo>
                <a:lnTo>
                  <a:pt x="1218104" y="1180453"/>
                </a:lnTo>
                <a:lnTo>
                  <a:pt x="0" y="1180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55061" y="7069171"/>
            <a:ext cx="1218104" cy="1180453"/>
          </a:xfrm>
          <a:custGeom>
            <a:avLst/>
            <a:gdLst/>
            <a:ahLst/>
            <a:cxnLst/>
            <a:rect l="l" t="t" r="r" b="b"/>
            <a:pathLst>
              <a:path w="1218104" h="1180453">
                <a:moveTo>
                  <a:pt x="0" y="0"/>
                </a:moveTo>
                <a:lnTo>
                  <a:pt x="1218103" y="0"/>
                </a:lnTo>
                <a:lnTo>
                  <a:pt x="1218103" y="1180453"/>
                </a:lnTo>
                <a:lnTo>
                  <a:pt x="0" y="1180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1982413" y="8621945"/>
            <a:ext cx="1218104" cy="1180453"/>
          </a:xfrm>
          <a:custGeom>
            <a:avLst/>
            <a:gdLst/>
            <a:ahLst/>
            <a:cxnLst/>
            <a:rect l="l" t="t" r="r" b="b"/>
            <a:pathLst>
              <a:path w="1218104" h="1180453">
                <a:moveTo>
                  <a:pt x="0" y="0"/>
                </a:moveTo>
                <a:lnTo>
                  <a:pt x="1218104" y="0"/>
                </a:lnTo>
                <a:lnTo>
                  <a:pt x="1218104" y="1180454"/>
                </a:lnTo>
                <a:lnTo>
                  <a:pt x="0" y="11804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591465" y="1028700"/>
            <a:ext cx="1218104" cy="1180453"/>
          </a:xfrm>
          <a:custGeom>
            <a:avLst/>
            <a:gdLst/>
            <a:ahLst/>
            <a:cxnLst/>
            <a:rect l="l" t="t" r="r" b="b"/>
            <a:pathLst>
              <a:path w="1218104" h="1180453">
                <a:moveTo>
                  <a:pt x="0" y="0"/>
                </a:moveTo>
                <a:lnTo>
                  <a:pt x="1218103" y="0"/>
                </a:lnTo>
                <a:lnTo>
                  <a:pt x="1218103" y="1180453"/>
                </a:lnTo>
                <a:lnTo>
                  <a:pt x="0" y="1180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798713" y="4335944"/>
            <a:ext cx="1218104" cy="1180453"/>
          </a:xfrm>
          <a:custGeom>
            <a:avLst/>
            <a:gdLst/>
            <a:ahLst/>
            <a:cxnLst/>
            <a:rect l="l" t="t" r="r" b="b"/>
            <a:pathLst>
              <a:path w="1218104" h="1180453">
                <a:moveTo>
                  <a:pt x="0" y="0"/>
                </a:moveTo>
                <a:lnTo>
                  <a:pt x="1218104" y="0"/>
                </a:lnTo>
                <a:lnTo>
                  <a:pt x="1218104" y="1180453"/>
                </a:lnTo>
                <a:lnTo>
                  <a:pt x="0" y="1180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222321" y="41931"/>
            <a:ext cx="1130075" cy="1376461"/>
          </a:xfrm>
          <a:custGeom>
            <a:avLst/>
            <a:gdLst/>
            <a:ahLst/>
            <a:cxnLst/>
            <a:rect l="l" t="t" r="r" b="b"/>
            <a:pathLst>
              <a:path w="1130075" h="1376461">
                <a:moveTo>
                  <a:pt x="0" y="0"/>
                </a:moveTo>
                <a:lnTo>
                  <a:pt x="1130075" y="0"/>
                </a:lnTo>
                <a:lnTo>
                  <a:pt x="1130075" y="1376461"/>
                </a:lnTo>
                <a:lnTo>
                  <a:pt x="0" y="137646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3454340" y="41931"/>
            <a:ext cx="1246087" cy="1490535"/>
          </a:xfrm>
          <a:custGeom>
            <a:avLst/>
            <a:gdLst/>
            <a:ahLst/>
            <a:cxnLst/>
            <a:rect l="l" t="t" r="r" b="b"/>
            <a:pathLst>
              <a:path w="1246087" h="1490535">
                <a:moveTo>
                  <a:pt x="0" y="0"/>
                </a:moveTo>
                <a:lnTo>
                  <a:pt x="1246087" y="0"/>
                </a:lnTo>
                <a:lnTo>
                  <a:pt x="1246087" y="1490535"/>
                </a:lnTo>
                <a:lnTo>
                  <a:pt x="0" y="14905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393200" y="244877"/>
            <a:ext cx="1824659" cy="1222522"/>
          </a:xfrm>
          <a:custGeom>
            <a:avLst/>
            <a:gdLst/>
            <a:ahLst/>
            <a:cxnLst/>
            <a:rect l="l" t="t" r="r" b="b"/>
            <a:pathLst>
              <a:path w="1824659" h="1222522">
                <a:moveTo>
                  <a:pt x="0" y="0"/>
                </a:moveTo>
                <a:lnTo>
                  <a:pt x="1824659" y="0"/>
                </a:lnTo>
                <a:lnTo>
                  <a:pt x="1824659" y="1222521"/>
                </a:lnTo>
                <a:lnTo>
                  <a:pt x="0" y="12225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687744" y="2036954"/>
            <a:ext cx="9073190" cy="3001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59"/>
              </a:lnSpc>
            </a:pPr>
            <a:r>
              <a:rPr lang="en-US" sz="11211">
                <a:solidFill>
                  <a:srgbClr val="224C8D"/>
                </a:solidFill>
                <a:latin typeface="Archive"/>
                <a:ea typeface="Archive"/>
                <a:cs typeface="Archive"/>
                <a:sym typeface="Archive"/>
              </a:rPr>
              <a:t>Password Salting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133588" y="-1276655"/>
            <a:ext cx="13258800" cy="13258800"/>
          </a:xfrm>
          <a:custGeom>
            <a:avLst/>
            <a:gdLst/>
            <a:ahLst/>
            <a:cxnLst/>
            <a:rect l="l" t="t" r="r" b="b"/>
            <a:pathLst>
              <a:path w="13258800" h="13258800">
                <a:moveTo>
                  <a:pt x="0" y="0"/>
                </a:moveTo>
                <a:lnTo>
                  <a:pt x="13258800" y="0"/>
                </a:lnTo>
                <a:lnTo>
                  <a:pt x="13258800" y="13258800"/>
                </a:lnTo>
                <a:lnTo>
                  <a:pt x="0" y="13258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629381" y="3086100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86061" y="1081717"/>
            <a:ext cx="6854522" cy="3158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2"/>
              </a:lnSpc>
            </a:pPr>
            <a:r>
              <a:rPr lang="en-US" sz="5915">
                <a:solidFill>
                  <a:srgbClr val="224C8D"/>
                </a:solidFill>
                <a:latin typeface="Archive"/>
                <a:ea typeface="Archive"/>
                <a:cs typeface="Archive"/>
                <a:sym typeface="Archive"/>
              </a:rPr>
              <a:t>The "</a:t>
            </a:r>
            <a:r>
              <a:rPr lang="en-US" sz="5915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Why</a:t>
            </a:r>
            <a:r>
              <a:rPr lang="en-US" sz="5915">
                <a:solidFill>
                  <a:srgbClr val="224C8D"/>
                </a:solidFill>
                <a:latin typeface="Archive"/>
                <a:ea typeface="Archive"/>
                <a:cs typeface="Archive"/>
                <a:sym typeface="Archive"/>
              </a:rPr>
              <a:t>" - Vulnerabilities without Salt &amp; Pepper</a:t>
            </a:r>
          </a:p>
        </p:txBody>
      </p:sp>
      <p:sp>
        <p:nvSpPr>
          <p:cNvPr id="5" name="Freeform 5"/>
          <p:cNvSpPr/>
          <p:nvPr/>
        </p:nvSpPr>
        <p:spPr>
          <a:xfrm>
            <a:off x="11042918" y="995992"/>
            <a:ext cx="1218104" cy="1180453"/>
          </a:xfrm>
          <a:custGeom>
            <a:avLst/>
            <a:gdLst/>
            <a:ahLst/>
            <a:cxnLst/>
            <a:rect l="l" t="t" r="r" b="b"/>
            <a:pathLst>
              <a:path w="1218104" h="1180453">
                <a:moveTo>
                  <a:pt x="0" y="0"/>
                </a:moveTo>
                <a:lnTo>
                  <a:pt x="1218104" y="0"/>
                </a:lnTo>
                <a:lnTo>
                  <a:pt x="1218104" y="1180453"/>
                </a:lnTo>
                <a:lnTo>
                  <a:pt x="0" y="1180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864949" y="7371789"/>
            <a:ext cx="1218104" cy="1180453"/>
          </a:xfrm>
          <a:custGeom>
            <a:avLst/>
            <a:gdLst/>
            <a:ahLst/>
            <a:cxnLst/>
            <a:rect l="l" t="t" r="r" b="b"/>
            <a:pathLst>
              <a:path w="1218104" h="1180453">
                <a:moveTo>
                  <a:pt x="0" y="0"/>
                </a:moveTo>
                <a:lnTo>
                  <a:pt x="1218104" y="0"/>
                </a:lnTo>
                <a:lnTo>
                  <a:pt x="1218104" y="1180453"/>
                </a:lnTo>
                <a:lnTo>
                  <a:pt x="0" y="1180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86061" y="4658237"/>
            <a:ext cx="6854522" cy="694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5116">
                <a:solidFill>
                  <a:srgbClr val="224C8D"/>
                </a:solidFill>
                <a:latin typeface="Archive"/>
                <a:ea typeface="Archive"/>
                <a:cs typeface="Archive"/>
                <a:sym typeface="Archive"/>
              </a:rPr>
              <a:t>1.Identical Hashes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6061" y="6014851"/>
            <a:ext cx="6854522" cy="1361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5116">
                <a:solidFill>
                  <a:srgbClr val="224C8D"/>
                </a:solidFill>
                <a:latin typeface="Archive"/>
                <a:ea typeface="Archive"/>
                <a:cs typeface="Archive"/>
                <a:sym typeface="Archive"/>
              </a:rPr>
              <a:t>2.Rainbow Table Attacks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6061" y="8038215"/>
            <a:ext cx="6854522" cy="1361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5116">
                <a:solidFill>
                  <a:srgbClr val="224C8D"/>
                </a:solidFill>
                <a:latin typeface="Archive"/>
                <a:ea typeface="Archive"/>
                <a:cs typeface="Archive"/>
                <a:sym typeface="Archive"/>
              </a:rPr>
              <a:t>3.Dictionary Attacks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71975" y="371475"/>
            <a:ext cx="9544050" cy="9544050"/>
          </a:xfrm>
          <a:custGeom>
            <a:avLst/>
            <a:gdLst/>
            <a:ahLst/>
            <a:cxnLst/>
            <a:rect l="l" t="t" r="r" b="b"/>
            <a:pathLst>
              <a:path w="9544050" h="9544050">
                <a:moveTo>
                  <a:pt x="0" y="0"/>
                </a:moveTo>
                <a:lnTo>
                  <a:pt x="9544050" y="0"/>
                </a:lnTo>
                <a:lnTo>
                  <a:pt x="9544050" y="9544050"/>
                </a:lnTo>
                <a:lnTo>
                  <a:pt x="0" y="95440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691335" y="5871725"/>
            <a:ext cx="2847719" cy="3012011"/>
          </a:xfrm>
          <a:custGeom>
            <a:avLst/>
            <a:gdLst/>
            <a:ahLst/>
            <a:cxnLst/>
            <a:rect l="l" t="t" r="r" b="b"/>
            <a:pathLst>
              <a:path w="2847719" h="3012011">
                <a:moveTo>
                  <a:pt x="0" y="0"/>
                </a:moveTo>
                <a:lnTo>
                  <a:pt x="2847719" y="0"/>
                </a:lnTo>
                <a:lnTo>
                  <a:pt x="2847719" y="3012011"/>
                </a:lnTo>
                <a:lnTo>
                  <a:pt x="0" y="30120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71575" y="1450395"/>
            <a:ext cx="3343275" cy="2619912"/>
          </a:xfrm>
          <a:custGeom>
            <a:avLst/>
            <a:gdLst/>
            <a:ahLst/>
            <a:cxnLst/>
            <a:rect l="l" t="t" r="r" b="b"/>
            <a:pathLst>
              <a:path w="3343275" h="2619912">
                <a:moveTo>
                  <a:pt x="0" y="0"/>
                </a:moveTo>
                <a:lnTo>
                  <a:pt x="3343275" y="0"/>
                </a:lnTo>
                <a:lnTo>
                  <a:pt x="3343275" y="2619912"/>
                </a:lnTo>
                <a:lnTo>
                  <a:pt x="0" y="26199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716739" y="5322576"/>
            <a:ext cx="6854522" cy="19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30"/>
              </a:lnSpc>
            </a:pPr>
            <a:r>
              <a:rPr lang="en-US" sz="4275" b="1">
                <a:solidFill>
                  <a:srgbClr val="37373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Bcrypt</a:t>
            </a:r>
          </a:p>
          <a:p>
            <a:pPr algn="ctr">
              <a:lnSpc>
                <a:spcPts val="5130"/>
              </a:lnSpc>
            </a:pPr>
            <a:r>
              <a:rPr lang="en-US" sz="4275" b="1">
                <a:solidFill>
                  <a:srgbClr val="37373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Argon2</a:t>
            </a:r>
          </a:p>
          <a:p>
            <a:pPr algn="ctr">
              <a:lnSpc>
                <a:spcPts val="5250"/>
              </a:lnSpc>
            </a:pPr>
            <a:r>
              <a:rPr lang="en-US" sz="4375" b="1">
                <a:solidFill>
                  <a:srgbClr val="37373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Scrypt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716739" y="2516499"/>
            <a:ext cx="6854522" cy="2639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80"/>
              </a:lnSpc>
            </a:pPr>
            <a:r>
              <a:rPr lang="en-US" sz="6615">
                <a:solidFill>
                  <a:srgbClr val="224C8D"/>
                </a:solidFill>
                <a:latin typeface="Archive"/>
                <a:ea typeface="Archive"/>
                <a:cs typeface="Archive"/>
                <a:sym typeface="Archive"/>
              </a:rPr>
              <a:t>Adaptive Hashing Algorithms</a:t>
            </a:r>
          </a:p>
        </p:txBody>
      </p:sp>
      <p:sp>
        <p:nvSpPr>
          <p:cNvPr id="7" name="Freeform 7"/>
          <p:cNvSpPr/>
          <p:nvPr/>
        </p:nvSpPr>
        <p:spPr>
          <a:xfrm>
            <a:off x="14646846" y="1853242"/>
            <a:ext cx="1218104" cy="1180453"/>
          </a:xfrm>
          <a:custGeom>
            <a:avLst/>
            <a:gdLst/>
            <a:ahLst/>
            <a:cxnLst/>
            <a:rect l="l" t="t" r="r" b="b"/>
            <a:pathLst>
              <a:path w="1218104" h="1180453">
                <a:moveTo>
                  <a:pt x="0" y="0"/>
                </a:moveTo>
                <a:lnTo>
                  <a:pt x="1218103" y="0"/>
                </a:lnTo>
                <a:lnTo>
                  <a:pt x="1218103" y="1180453"/>
                </a:lnTo>
                <a:lnTo>
                  <a:pt x="0" y="1180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502471" y="7496804"/>
            <a:ext cx="1218104" cy="1180453"/>
          </a:xfrm>
          <a:custGeom>
            <a:avLst/>
            <a:gdLst/>
            <a:ahLst/>
            <a:cxnLst/>
            <a:rect l="l" t="t" r="r" b="b"/>
            <a:pathLst>
              <a:path w="1218104" h="1180453">
                <a:moveTo>
                  <a:pt x="0" y="0"/>
                </a:moveTo>
                <a:lnTo>
                  <a:pt x="1218103" y="0"/>
                </a:lnTo>
                <a:lnTo>
                  <a:pt x="1218103" y="1180454"/>
                </a:lnTo>
                <a:lnTo>
                  <a:pt x="0" y="11804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30498" y="0"/>
            <a:ext cx="16027003" cy="16027003"/>
          </a:xfrm>
          <a:custGeom>
            <a:avLst/>
            <a:gdLst/>
            <a:ahLst/>
            <a:cxnLst/>
            <a:rect l="l" t="t" r="r" b="b"/>
            <a:pathLst>
              <a:path w="16027003" h="16027003">
                <a:moveTo>
                  <a:pt x="0" y="0"/>
                </a:moveTo>
                <a:lnTo>
                  <a:pt x="16027004" y="0"/>
                </a:lnTo>
                <a:lnTo>
                  <a:pt x="16027004" y="16027003"/>
                </a:lnTo>
                <a:lnTo>
                  <a:pt x="0" y="160270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741516" y="1407319"/>
            <a:ext cx="4804968" cy="4114800"/>
          </a:xfrm>
          <a:custGeom>
            <a:avLst/>
            <a:gdLst/>
            <a:ahLst/>
            <a:cxnLst/>
            <a:rect l="l" t="t" r="r" b="b"/>
            <a:pathLst>
              <a:path w="4804968" h="4114800">
                <a:moveTo>
                  <a:pt x="0" y="0"/>
                </a:moveTo>
                <a:lnTo>
                  <a:pt x="4804968" y="0"/>
                </a:lnTo>
                <a:lnTo>
                  <a:pt x="48049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144000" y="6070402"/>
            <a:ext cx="6711647" cy="3876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3675" b="1">
                <a:solidFill>
                  <a:srgbClr val="37373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CSPRG (Cryptographically Secure Pseudo-Random Number Generator)</a:t>
            </a:r>
          </a:p>
          <a:p>
            <a:pPr algn="l">
              <a:lnSpc>
                <a:spcPts val="4410"/>
              </a:lnSpc>
            </a:pPr>
            <a:endParaRPr lang="en-US" sz="3675" b="1">
              <a:solidFill>
                <a:srgbClr val="373737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  <a:p>
            <a:pPr algn="l">
              <a:lnSpc>
                <a:spcPts val="4410"/>
              </a:lnSpc>
            </a:pPr>
            <a:r>
              <a:rPr lang="en-US" sz="3675" b="1">
                <a:solidFill>
                  <a:srgbClr val="37373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Salt Length</a:t>
            </a:r>
          </a:p>
          <a:p>
            <a:pPr algn="l">
              <a:lnSpc>
                <a:spcPts val="4410"/>
              </a:lnSpc>
            </a:pPr>
            <a:endParaRPr lang="en-US" sz="3675" b="1">
              <a:solidFill>
                <a:srgbClr val="373737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  <a:p>
            <a:pPr algn="l">
              <a:lnSpc>
                <a:spcPts val="4410"/>
              </a:lnSpc>
            </a:pPr>
            <a:r>
              <a:rPr lang="en-US" sz="3675" b="1">
                <a:solidFill>
                  <a:srgbClr val="37373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Pepper Storage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55054" y="6921101"/>
            <a:ext cx="6794454" cy="16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231"/>
              </a:lnSpc>
            </a:pPr>
            <a:r>
              <a:rPr lang="en-US" sz="5991">
                <a:solidFill>
                  <a:srgbClr val="224C8D"/>
                </a:solidFill>
                <a:latin typeface="Archive"/>
                <a:ea typeface="Archive"/>
                <a:cs typeface="Archive"/>
                <a:sym typeface="Archive"/>
              </a:rPr>
              <a:t>Implementation Best Practice</a:t>
            </a:r>
          </a:p>
        </p:txBody>
      </p:sp>
      <p:sp>
        <p:nvSpPr>
          <p:cNvPr id="6" name="Freeform 6"/>
          <p:cNvSpPr/>
          <p:nvPr/>
        </p:nvSpPr>
        <p:spPr>
          <a:xfrm>
            <a:off x="562523" y="1317460"/>
            <a:ext cx="1218104" cy="1180453"/>
          </a:xfrm>
          <a:custGeom>
            <a:avLst/>
            <a:gdLst/>
            <a:ahLst/>
            <a:cxnLst/>
            <a:rect l="l" t="t" r="r" b="b"/>
            <a:pathLst>
              <a:path w="1218104" h="1180453">
                <a:moveTo>
                  <a:pt x="0" y="0"/>
                </a:moveTo>
                <a:lnTo>
                  <a:pt x="1218104" y="0"/>
                </a:lnTo>
                <a:lnTo>
                  <a:pt x="1218104" y="1180453"/>
                </a:lnTo>
                <a:lnTo>
                  <a:pt x="0" y="1180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169800" y="1907687"/>
            <a:ext cx="1218104" cy="1180453"/>
          </a:xfrm>
          <a:custGeom>
            <a:avLst/>
            <a:gdLst/>
            <a:ahLst/>
            <a:cxnLst/>
            <a:rect l="l" t="t" r="r" b="b"/>
            <a:pathLst>
              <a:path w="1218104" h="1180453">
                <a:moveTo>
                  <a:pt x="0" y="0"/>
                </a:moveTo>
                <a:lnTo>
                  <a:pt x="1218104" y="0"/>
                </a:lnTo>
                <a:lnTo>
                  <a:pt x="1218104" y="1180453"/>
                </a:lnTo>
                <a:lnTo>
                  <a:pt x="0" y="1180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18601" y="-1489686"/>
            <a:ext cx="13258800" cy="13258800"/>
          </a:xfrm>
          <a:custGeom>
            <a:avLst/>
            <a:gdLst/>
            <a:ahLst/>
            <a:cxnLst/>
            <a:rect l="l" t="t" r="r" b="b"/>
            <a:pathLst>
              <a:path w="13258800" h="13258800">
                <a:moveTo>
                  <a:pt x="0" y="0"/>
                </a:moveTo>
                <a:lnTo>
                  <a:pt x="13258800" y="0"/>
                </a:lnTo>
                <a:lnTo>
                  <a:pt x="13258800" y="13258800"/>
                </a:lnTo>
                <a:lnTo>
                  <a:pt x="0" y="13258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042918" y="995992"/>
            <a:ext cx="1218104" cy="1180453"/>
          </a:xfrm>
          <a:custGeom>
            <a:avLst/>
            <a:gdLst/>
            <a:ahLst/>
            <a:cxnLst/>
            <a:rect l="l" t="t" r="r" b="b"/>
            <a:pathLst>
              <a:path w="1218104" h="1180453">
                <a:moveTo>
                  <a:pt x="0" y="0"/>
                </a:moveTo>
                <a:lnTo>
                  <a:pt x="1218104" y="0"/>
                </a:lnTo>
                <a:lnTo>
                  <a:pt x="1218104" y="1180453"/>
                </a:lnTo>
                <a:lnTo>
                  <a:pt x="0" y="1180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579102" y="8323935"/>
            <a:ext cx="1218104" cy="1180453"/>
          </a:xfrm>
          <a:custGeom>
            <a:avLst/>
            <a:gdLst/>
            <a:ahLst/>
            <a:cxnLst/>
            <a:rect l="l" t="t" r="r" b="b"/>
            <a:pathLst>
              <a:path w="1218104" h="1180453">
                <a:moveTo>
                  <a:pt x="0" y="0"/>
                </a:moveTo>
                <a:lnTo>
                  <a:pt x="1218104" y="0"/>
                </a:lnTo>
                <a:lnTo>
                  <a:pt x="1218104" y="1180453"/>
                </a:lnTo>
                <a:lnTo>
                  <a:pt x="0" y="1180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794611" y="2602627"/>
            <a:ext cx="6005190" cy="5721308"/>
          </a:xfrm>
          <a:custGeom>
            <a:avLst/>
            <a:gdLst/>
            <a:ahLst/>
            <a:cxnLst/>
            <a:rect l="l" t="t" r="r" b="b"/>
            <a:pathLst>
              <a:path w="6005190" h="5721308">
                <a:moveTo>
                  <a:pt x="0" y="0"/>
                </a:moveTo>
                <a:lnTo>
                  <a:pt x="6005190" y="0"/>
                </a:lnTo>
                <a:lnTo>
                  <a:pt x="6005190" y="5721308"/>
                </a:lnTo>
                <a:lnTo>
                  <a:pt x="0" y="57213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1265365"/>
            <a:ext cx="7368874" cy="911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80"/>
              </a:lnSpc>
            </a:pPr>
            <a:r>
              <a:rPr lang="en-US" sz="6615">
                <a:solidFill>
                  <a:srgbClr val="224C8D"/>
                </a:solidFill>
                <a:latin typeface="Archive"/>
                <a:ea typeface="Archive"/>
                <a:cs typeface="Archive"/>
                <a:sym typeface="Archive"/>
              </a:rPr>
              <a:t>Code Snippet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-167724" y="2526427"/>
            <a:ext cx="10457836" cy="2034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224C8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Plain MD5: 5f4dcc3b5aa765d61d8327deb882cf99 (Easy to crack)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3685" y="4913391"/>
            <a:ext cx="8460315" cy="1348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224C8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Salted Hash: SHA256(password + unique_salt) (Harder)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0294" y="6879622"/>
            <a:ext cx="8541801" cy="2034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224C8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Peppered Hash: SHA256(password + salt + secret_pepper) (Strongest)</a:t>
            </a:r>
          </a:p>
          <a:p>
            <a:pPr algn="ctr">
              <a:lnSpc>
                <a:spcPts val="5460"/>
              </a:lnSpc>
            </a:pPr>
            <a:endParaRPr lang="en-US" sz="3900" b="1">
              <a:solidFill>
                <a:srgbClr val="224C8D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71975" y="371475"/>
            <a:ext cx="9544050" cy="9544050"/>
          </a:xfrm>
          <a:custGeom>
            <a:avLst/>
            <a:gdLst/>
            <a:ahLst/>
            <a:cxnLst/>
            <a:rect l="l" t="t" r="r" b="b"/>
            <a:pathLst>
              <a:path w="9544050" h="9544050">
                <a:moveTo>
                  <a:pt x="0" y="0"/>
                </a:moveTo>
                <a:lnTo>
                  <a:pt x="9544050" y="0"/>
                </a:lnTo>
                <a:lnTo>
                  <a:pt x="9544050" y="9544050"/>
                </a:lnTo>
                <a:lnTo>
                  <a:pt x="0" y="95440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646846" y="1853242"/>
            <a:ext cx="1218104" cy="1180453"/>
          </a:xfrm>
          <a:custGeom>
            <a:avLst/>
            <a:gdLst/>
            <a:ahLst/>
            <a:cxnLst/>
            <a:rect l="l" t="t" r="r" b="b"/>
            <a:pathLst>
              <a:path w="1218104" h="1180453">
                <a:moveTo>
                  <a:pt x="0" y="0"/>
                </a:moveTo>
                <a:lnTo>
                  <a:pt x="1218103" y="0"/>
                </a:lnTo>
                <a:lnTo>
                  <a:pt x="1218103" y="1180453"/>
                </a:lnTo>
                <a:lnTo>
                  <a:pt x="0" y="1180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502471" y="7496804"/>
            <a:ext cx="1218104" cy="1180453"/>
          </a:xfrm>
          <a:custGeom>
            <a:avLst/>
            <a:gdLst/>
            <a:ahLst/>
            <a:cxnLst/>
            <a:rect l="l" t="t" r="r" b="b"/>
            <a:pathLst>
              <a:path w="1218104" h="1180453">
                <a:moveTo>
                  <a:pt x="0" y="0"/>
                </a:moveTo>
                <a:lnTo>
                  <a:pt x="1218103" y="0"/>
                </a:lnTo>
                <a:lnTo>
                  <a:pt x="1218103" y="1180454"/>
                </a:lnTo>
                <a:lnTo>
                  <a:pt x="0" y="11804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303144">
            <a:off x="13602583" y="5881326"/>
            <a:ext cx="3306628" cy="2867749"/>
          </a:xfrm>
          <a:custGeom>
            <a:avLst/>
            <a:gdLst/>
            <a:ahLst/>
            <a:cxnLst/>
            <a:rect l="l" t="t" r="r" b="b"/>
            <a:pathLst>
              <a:path w="3306628" h="2867749">
                <a:moveTo>
                  <a:pt x="0" y="0"/>
                </a:moveTo>
                <a:lnTo>
                  <a:pt x="3306629" y="0"/>
                </a:lnTo>
                <a:lnTo>
                  <a:pt x="3306629" y="2867748"/>
                </a:lnTo>
                <a:lnTo>
                  <a:pt x="0" y="28677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8700" y="1028700"/>
            <a:ext cx="3130036" cy="3130036"/>
          </a:xfrm>
          <a:custGeom>
            <a:avLst/>
            <a:gdLst/>
            <a:ahLst/>
            <a:cxnLst/>
            <a:rect l="l" t="t" r="r" b="b"/>
            <a:pathLst>
              <a:path w="3130036" h="3130036">
                <a:moveTo>
                  <a:pt x="0" y="0"/>
                </a:moveTo>
                <a:lnTo>
                  <a:pt x="3130036" y="0"/>
                </a:lnTo>
                <a:lnTo>
                  <a:pt x="3130036" y="3130036"/>
                </a:lnTo>
                <a:lnTo>
                  <a:pt x="0" y="3130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716739" y="2175181"/>
            <a:ext cx="6854522" cy="2228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40"/>
              </a:lnSpc>
            </a:pPr>
            <a:r>
              <a:rPr lang="en-US" sz="5616">
                <a:solidFill>
                  <a:srgbClr val="224C8D"/>
                </a:solidFill>
                <a:latin typeface="Archive"/>
                <a:ea typeface="Archive"/>
                <a:cs typeface="Archive"/>
                <a:sym typeface="Archive"/>
              </a:rPr>
              <a:t>Defensive Strategy (CEH Perspective)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038576" y="4652327"/>
            <a:ext cx="8210848" cy="1430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224C8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Attacker's View</a:t>
            </a:r>
          </a:p>
          <a:p>
            <a:pPr algn="ctr">
              <a:lnSpc>
                <a:spcPts val="4060"/>
              </a:lnSpc>
            </a:pPr>
            <a:r>
              <a:rPr lang="en-US" sz="2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 GPU cluster to generate billions of hashes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84900" y="6295072"/>
            <a:ext cx="6318200" cy="1474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224C8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Defender's View</a:t>
            </a:r>
          </a:p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 use Key Stretching (PBKDF2)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30498" y="0"/>
            <a:ext cx="16027003" cy="16027003"/>
          </a:xfrm>
          <a:custGeom>
            <a:avLst/>
            <a:gdLst/>
            <a:ahLst/>
            <a:cxnLst/>
            <a:rect l="l" t="t" r="r" b="b"/>
            <a:pathLst>
              <a:path w="16027003" h="16027003">
                <a:moveTo>
                  <a:pt x="0" y="0"/>
                </a:moveTo>
                <a:lnTo>
                  <a:pt x="16027004" y="0"/>
                </a:lnTo>
                <a:lnTo>
                  <a:pt x="16027004" y="16027003"/>
                </a:lnTo>
                <a:lnTo>
                  <a:pt x="0" y="160270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62523" y="1317460"/>
            <a:ext cx="1218104" cy="1180453"/>
          </a:xfrm>
          <a:custGeom>
            <a:avLst/>
            <a:gdLst/>
            <a:ahLst/>
            <a:cxnLst/>
            <a:rect l="l" t="t" r="r" b="b"/>
            <a:pathLst>
              <a:path w="1218104" h="1180453">
                <a:moveTo>
                  <a:pt x="0" y="0"/>
                </a:moveTo>
                <a:lnTo>
                  <a:pt x="1218104" y="0"/>
                </a:lnTo>
                <a:lnTo>
                  <a:pt x="1218104" y="1180453"/>
                </a:lnTo>
                <a:lnTo>
                  <a:pt x="0" y="1180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169800" y="1907687"/>
            <a:ext cx="1218104" cy="1180453"/>
          </a:xfrm>
          <a:custGeom>
            <a:avLst/>
            <a:gdLst/>
            <a:ahLst/>
            <a:cxnLst/>
            <a:rect l="l" t="t" r="r" b="b"/>
            <a:pathLst>
              <a:path w="1218104" h="1180453">
                <a:moveTo>
                  <a:pt x="0" y="0"/>
                </a:moveTo>
                <a:lnTo>
                  <a:pt x="1218104" y="0"/>
                </a:lnTo>
                <a:lnTo>
                  <a:pt x="1218104" y="1180453"/>
                </a:lnTo>
                <a:lnTo>
                  <a:pt x="0" y="1180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096000" y="4274503"/>
            <a:ext cx="7696200" cy="34445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16600" b="1" dirty="0">
                <a:solidFill>
                  <a:srgbClr val="224C8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</a:t>
            </a:r>
          </a:p>
          <a:p>
            <a:pPr algn="ctr">
              <a:lnSpc>
                <a:spcPts val="12880"/>
              </a:lnSpc>
            </a:pPr>
            <a:r>
              <a:rPr lang="en-US" sz="16600" b="1" dirty="0">
                <a:solidFill>
                  <a:srgbClr val="224C8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</Words>
  <Application>Microsoft Office PowerPoint</Application>
  <PresentationFormat>Custom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Glacial Indifference Bold</vt:lpstr>
      <vt:lpstr>Arial</vt:lpstr>
      <vt:lpstr>Archive</vt:lpstr>
      <vt:lpstr>Canva Sans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Password Salting</dc:title>
  <cp:lastModifiedBy>malik awan</cp:lastModifiedBy>
  <cp:revision>2</cp:revision>
  <dcterms:created xsi:type="dcterms:W3CDTF">2006-08-16T00:00:00Z</dcterms:created>
  <dcterms:modified xsi:type="dcterms:W3CDTF">2026-04-20T08:36:10Z</dcterms:modified>
  <dc:identifier>DAHHX7efUCc</dc:identifier>
</cp:coreProperties>
</file>